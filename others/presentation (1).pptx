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Dice Score vs. Label Fraction Used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Background Dice (%)</c:v>
                </c:pt>
              </c:strCache>
            </c:strRef>
          </c:tx>
          <c:spPr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1%</c:v>
                </c:pt>
                <c:pt idx="1">
                  <c:v>5%</c:v>
                </c:pt>
                <c:pt idx="2">
                  <c:v>10%</c:v>
                </c:pt>
                <c:pt idx="3">
                  <c:v>25%</c:v>
                </c:pt>
                <c:pt idx="4">
                  <c:v>50%</c:v>
                </c:pt>
                <c:pt idx="5">
                  <c:v>100%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92.5</c:v>
                </c:pt>
                <c:pt idx="1">
                  <c:v>95.2</c:v>
                </c:pt>
                <c:pt idx="2">
                  <c:v>96.8</c:v>
                </c:pt>
                <c:pt idx="3">
                  <c:v>97.1</c:v>
                </c:pt>
                <c:pt idx="4">
                  <c:v>97.8</c:v>
                </c:pt>
                <c:pt idx="5">
                  <c:v>98.2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9B-4FF0-AEC3-2DBC1CB226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Tumor Mean Dice (%)</c:v>
                </c:pt>
              </c:strCache>
            </c:strRef>
          </c:tx>
          <c:spPr>
            <a:ln w="31750" cap="flat">
              <a:solidFill>
                <a:srgbClr val="8888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1%</c:v>
                </c:pt>
                <c:pt idx="1">
                  <c:v>5%</c:v>
                </c:pt>
                <c:pt idx="2">
                  <c:v>10%</c:v>
                </c:pt>
                <c:pt idx="3">
                  <c:v>25%</c:v>
                </c:pt>
                <c:pt idx="4">
                  <c:v>50%</c:v>
                </c:pt>
                <c:pt idx="5">
                  <c:v>100%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</c:v>
                </c:pt>
                <c:pt idx="1">
                  <c:v>8.1</c:v>
                </c:pt>
                <c:pt idx="2">
                  <c:v>14.5</c:v>
                </c:pt>
                <c:pt idx="3">
                  <c:v>48.7</c:v>
                </c:pt>
                <c:pt idx="4">
                  <c:v>65.3</c:v>
                </c:pt>
                <c:pt idx="5">
                  <c:v>72.5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79B-4FF0-AEC3-2DBC1CB22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BraTS 2020: Dice Scores (10% Labels)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 Score (%)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3B-467B-831E-029F107B6FE7}"/>
              </c:ext>
            </c:extLst>
          </c:dPt>
          <c:dPt>
            <c:idx val="1"/>
            <c:invertIfNegative val="0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3B-467B-831E-029F107B6FE7}"/>
              </c:ext>
            </c:extLst>
          </c:dPt>
          <c:dPt>
            <c:idx val="2"/>
            <c:invertIfNegative val="0"/>
            <c:bubble3D val="0"/>
            <c:spPr>
              <a:solidFill>
                <a:srgbClr val="7777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3B-467B-831E-029F107B6FE7}"/>
              </c:ext>
            </c:extLst>
          </c:dPt>
          <c:dPt>
            <c:idx val="3"/>
            <c:invertIfNegative val="0"/>
            <c:bubble3D val="0"/>
            <c:spPr>
              <a:solidFill>
                <a:srgbClr val="99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3B-467B-831E-029F107B6FE7}"/>
              </c:ext>
            </c:extLst>
          </c:dPt>
          <c:dPt>
            <c:idx val="4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3B-467B-831E-029F107B6F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Background</c:v>
                </c:pt>
                <c:pt idx="1">
                  <c:v>Necrotic</c:v>
                </c:pt>
                <c:pt idx="2">
                  <c:v>Edema</c:v>
                </c:pt>
                <c:pt idx="3">
                  <c:v>Enhancing</c:v>
                </c:pt>
                <c:pt idx="4">
                  <c:v>Tumor Mean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96.8</c:v>
                </c:pt>
                <c:pt idx="1">
                  <c:v>21.6</c:v>
                </c:pt>
                <c:pt idx="2">
                  <c:v>3.1</c:v>
                </c:pt>
                <c:pt idx="3">
                  <c:v>18.8</c:v>
                </c:pt>
                <c:pt idx="4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3B-467B-831E-029F107B6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21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Brain Tumor Segmentation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CCCCC"/>
                </a:solidFill>
              </a:rPr>
              <a:t>with Self-Supervised Learning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999"/>
                </a:solidFill>
              </a:rPr>
              <a:t>DINO Pretraining  →  STEGO Clustering  →  Fine-Tuning  →  Transfer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90%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Cost Savings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10%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Labels Used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96.8%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Background Dice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24 hrs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Total Training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BraTS 2020  |  ISLES 2022  |  ViT-Small / DINO / STEGO  |  NVIDIA RTX 3090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&amp; Solution —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21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86868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</a:rPr>
              <a:t>Traditional brain tumor segmentation requires fully labeled datasets — 15,564 MRI slices annotated by expert radiologists at 5–10 min each. That totals 1,297 hours and $778,200 per project. This makes AI inaccessible in low-resource hospitals, and every new disease requires relabeling from scratch.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0" y="621792"/>
            <a:ext cx="18288" cy="123444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7" name="Text 5"/>
          <p:cNvSpPr/>
          <p:nvPr/>
        </p:nvSpPr>
        <p:spPr>
          <a:xfrm>
            <a:off x="4718304" y="5120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18304" y="832104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</a:rPr>
              <a:t>We use self-supervised learning to extract rich anatomical features from unlabeled MRI scans — zero annotation cost. A lightweight decoder is then fine-tuned with only 10% of labels (1,556 slices), cutting costs by 90% to $77,820 and reducing annotation time from 54 days to just 6. The same frozen backbone transfers directly to stroke lesion detection (ISLES 2022).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" y="1920240"/>
            <a:ext cx="8741664" cy="18288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" y="1993392"/>
            <a:ext cx="4206240" cy="2962656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993392"/>
            <a:ext cx="420624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99339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Problem: Traditional Supervised Learning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4059936" cy="658368"/>
          </a:xfrm>
          <a:prstGeom prst="rect">
            <a:avLst/>
          </a:prstGeom>
          <a:solidFill>
            <a:srgbClr val="EBEBEB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0008"/>
            <a:ext cx="39136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 Image  →  CNN Encoder  →  Decoder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Mask (224×224×4)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Loss = CrossEntropy(pred, ground_truth)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3108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High Cost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330098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15,564 × $50 = $778,200  |  5–10 min/scan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5570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Time Consuming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" y="3749040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1,297 hrs = 54 days  |  AI deployment bottleneck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40050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Expertise Required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" y="4197096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Only specialist radiologists  |  Inter-rater variability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453128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4453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Poor Scalability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" y="464515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New disease = relabel everything from scratch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993392"/>
            <a:ext cx="4370832" cy="2962656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993392"/>
            <a:ext cx="4370832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99339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Our Solution: Self-Supervised Learning (SSL)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45152" y="2322576"/>
            <a:ext cx="4224528" cy="658368"/>
          </a:xfrm>
          <a:prstGeom prst="rect">
            <a:avLst/>
          </a:prstGeom>
          <a:solidFill>
            <a:srgbClr val="E8E8E8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350008"/>
            <a:ext cx="40782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11111"/>
                </a:solidFill>
              </a:rPr>
              <a:t>Key Insight: Unlabeled MRI scans contain rich anatomical patterns.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11111"/>
                </a:solidFill>
              </a:rPr>
              <a:t>Learn features WITHOUT labels → fine-tune with just 10%.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3108960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108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Free Unlabeled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3300984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Hospital archives  |  Zero annotation cost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45152" y="3557016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5570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Better Representations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73168" y="374904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Diverse data → robust features → better generalization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4005072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0050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Transfer Learning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4197096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BraTS (tumors) → ISLES (stroke)  |  One backbone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4453128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4453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Label Efficiency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73168" y="4645152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10% labels  =  90% savings  =  $700,380 less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" y="4956048"/>
            <a:ext cx="8741664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" y="4974336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Traditional: $778,200  ·  1,297 hrs  ·  100% labels    →    Ours: $77,820  ·  130 hrs  ·  10% labels    =    90% savings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Datasets — BraTS 2020 &amp; ISLES 2022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21792"/>
            <a:ext cx="4224528" cy="440740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21792"/>
            <a:ext cx="4224528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621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BraTS 2020 — Brain Tumor Segmentation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96926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Task: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71016" y="96926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Multi-class brain tumor segmentation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316736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7160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Modality: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71016" y="137160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FLAIR MRI (T1, T1ce, T2, FLAIR)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719072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7739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Slices: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71016" y="177393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Training: 15,564  |  Validation: 3,031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121408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1762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Classes: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71016" y="217627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4 — Background · Necrotic · Edema · Enhancing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523744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5786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Labels Used: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71016" y="257860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Only 10%  =  1,556 slices annotated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2926080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98094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Resolution: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71016" y="298094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224×224 pixels per slice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3328416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3832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Source: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71016" y="338328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Multi-site clinical MRI scans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3730752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78561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Challenge: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71016" y="378561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Extreme class imbalance (BG:Tumor ≈ 95:5)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224528"/>
            <a:ext cx="4096512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25196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Label Split Used in This Study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4462272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1%=156  ·  5%=778  ·  10%=1,556  ·  25%=3,891  ·  50%=7,782  ·  100%=15,564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621792"/>
            <a:ext cx="4370832" cy="440740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621792"/>
            <a:ext cx="4370832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62179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ISLES 2022 — Stroke Lesion Segmentation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96926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Task: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41848" y="969264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Acute ischemic stroke lesion segmentation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316736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37160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Modality: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41848" y="137160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DWI  ·  ADC  ·  FLAIR (multi-modal)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1719072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7739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Volumes: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41848" y="1773936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Training: 200 volumes  |  Validation: 50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121408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1762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Patches: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41848" y="2176272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Training: 800 patches  |  Validation: 100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523744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5786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Classes: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41848" y="2578608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2 — Background  ·  Lesion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926080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298094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Labels Used: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41848" y="2980944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Only 10%  =  20 annotated training volumes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3328416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3832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Resolution: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41848" y="338328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128×128×16 (volumetric 3D patches)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730752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78561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Challenge: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41848" y="3785616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Tiny lesions, variable shape &amp; location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26864" y="4224528"/>
            <a:ext cx="4242816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0" name="Text 58"/>
          <p:cNvSpPr/>
          <p:nvPr/>
        </p:nvSpPr>
        <p:spPr>
          <a:xfrm>
            <a:off x="4718304" y="4251960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ISLES? Transfer Learning Validation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718304" y="446227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</a:rPr>
              <a:t>Frozen BraTS backbone → ISLES fine-tune with 10% labels → tests generalization across brain diseases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01168" y="5029200"/>
            <a:ext cx="874166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</a:rPr>
              <a:t>BraTS 2020: Menze et al., TMI 2015  ·  ISLES 2022: Hernandez Petzsche et al., Scientific Data 2022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Architecture — Four-Stage Overview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40080"/>
            <a:ext cx="42062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53712" y="658368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53712" y="658368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4553712" y="658368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10912" y="71323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MRI-Aware DINO Pretraining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10912" y="100584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ViT-Small trained on unlabeled BraTS+TCIA slices with MRI-specific augmentations. No labels needed. Outputs 384-dim patch features, PCA-validated for anatomical clustering.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53712" y="1773936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1773936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1773936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10912" y="182880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STEGO + Boundary-Contrastive SSL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10912" y="2121408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Frozen DINO features enter a STEGO head with a boundary branch. Contrastive loss groups similar tissue patches; boundary branch sharpens tissue transitions. Produces pseudo-labels with zero annotation.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53712" y="2889504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3712" y="2889504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4"/>
          <p:cNvSpPr/>
          <p:nvPr/>
        </p:nvSpPr>
        <p:spPr>
          <a:xfrm>
            <a:off x="4553712" y="2889504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010912" y="294436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Adaptive Meta-Loss Fine-Tuning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10912" y="3236976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A weight predictor learns per-image α(x), β(x), γ(x) to blend Dice + Boundary + Contrastive losses. Trained with 10/25/50/100% of BraTS labels; handles class imbalance automatically.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53712" y="4005072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53712" y="4005072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19"/>
          <p:cNvSpPr/>
          <p:nvPr/>
        </p:nvSpPr>
        <p:spPr>
          <a:xfrm>
            <a:off x="4553712" y="4005072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010912" y="405993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Evaluation + Transfer to ISLES 2022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10912" y="4352544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BraTS benchmark: Dice, IoU, Hausdorff. Transfer: frozen backbone + 10% ISLES labels for stroke lesion segmentation. Hybrid 2D-3D decoder achieves 2.2× better lesion Dice vs. 2D-only.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8600" y="5047488"/>
            <a:ext cx="8686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</a:rPr>
              <a:t>Left: Architecture diagram  |  Right: Stage-by-stage explanation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Inside Each Stage — Inputs, Methods &amp;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 — DINO Pretraining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Input: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5568" y="10241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15,564 unlabeled MRI slices (BraTS + TCIA)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30302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5568" y="130302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ViT-Small: 12 layers, 6 heads, embed_dim=384, patch=16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58191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Method: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15568" y="15819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Teacher–Student EMA:  ξ ← λξ + (1−λ)θ  |  λ=0.996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86080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Loss: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86080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 = −Σ P_t(x)·log P_s(x)  |  τ_teacher=0.04, τ_student=0.1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1396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Output: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5568" y="21396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384-dim feature per patch  |  Loss: 8.10→0.949  |  13 epochs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41858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Validate: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5568" y="24185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PCA confirms clear anatomical tissue cluster separation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658368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658368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658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2 — STEGO Clustering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02412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Input: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41848" y="10241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Frozen DINO patch features (384-dim) — zero labels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130302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41848" y="130302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Projection head 384→128  +  boundary branch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158191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Method: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41848" y="15819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Contrastive: pull similar patches, push dissimilar apart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186080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Loss: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41848" y="186080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 = L_corr + α·L_boundary  |  kernel k(f_i, f_j)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21396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Output: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41848" y="21396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4 pseudo-label clusters  |  Loss: 2.45→0.012  |  20 epochs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41858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Key: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41848" y="24185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Boundary branch enforces sharp tissue transition regions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2871216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2871216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3 — Adaptive Meta-Loss Fine-Tuning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323697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Input: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5568" y="32369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1,556 labeled slices (10%)  |  frozen DINO+STEGO encoder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351586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15568" y="35158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Weight predictor → α(x), β(x), γ(x) per image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379476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Loss: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15568" y="379476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 = α(x)·L_Dice + β(x)·L_Boundary + γ(x)·L_Contrast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40736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Trick: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15568" y="407365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Adaptive weights handle extreme class imbalance (95:5) automatically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435254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Output: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15568" y="43525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4-class mask  |  96.8% BG Dice  |  14.5% Tumor Dice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6314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Ablation: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15568" y="463143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10 / 25 / 50 / 100% label fractions tested for efficiency curve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2871216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2871216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4 — Evaluation + Transfer Learning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323697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BraTS: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41848" y="32369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Metrics: Dice · IoU · Hausdorff Distance per class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00600" y="351586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Classes: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41848" y="35158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Background · Necrotic Core · Edema · Enhancing Tumor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00600" y="379476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Transfer: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641848" y="379476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Frozen backbone → ISLES 2022 stroke dataset (10% labels)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00600" y="40736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Arch: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641848" y="407365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Hybrid 2D-3D: DINO per slice → 3D Conv Decoder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00600" y="435254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Result: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41848" y="43525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Lesion Dice: 3.5% (2D)  →  7.9% (3D)  =  2.2× gain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00600" y="46314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Cost: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641848" y="463143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90% annotation savings  ·  $700,380 saved vs. fully supervised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27660" y="5029200"/>
            <a:ext cx="8778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i="1" dirty="0">
              <a:solidFill>
                <a:srgbClr val="888888"/>
              </a:solidFill>
            </a:endParaRPr>
          </a:p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1 — DINO: Self-Distillation with No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16052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Teacher-Student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 Image (224×224)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3167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↙                   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5819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Augment Global      Augment Local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8470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                   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2112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ViT        TEACHER ViT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2377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(trainable)          (EMA update)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26426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                   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29077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Output      Teacher 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3172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↘           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3438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Cross-Entropy Loss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" y="3703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Backprop → Student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" y="39684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Teacher:  ξ ← λξ + (1−λ)θ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658368"/>
            <a:ext cx="429768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658368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6583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Equations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1728" y="105156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1247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1  Teacher EMA Update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ξ  ←  λ ξ  +  (1−λ) θ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73168" y="18288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λ = 0.996  |  Smooths teacher, prevents oscillations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228600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3591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2  DINO Cross-Entropy Loss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26517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−Σ  P_t(x) · log P_s(x)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73168" y="306324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Student learns to match teacher's output distribution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352044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935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3  Softmax with Temperature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886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exp(z/τ) / Σ exp(z_j/τ)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73168" y="4297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τ_teacher=0.04 (sharp)  |  τ_student=0.1 (smooth)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8600" y="5029200"/>
            <a:ext cx="8686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</a:rPr>
              <a:t>Config: ViT-Small  |  patch=16  |  embed_dim=384  |  depth=12  |  heads=6  |  batch=32  |  13 epochs  |  lr=5e-4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2 — STEGO: Unsupervised Semantic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16052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STEGO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5156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1051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Frozen DINO features (384-dim) fed as input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" y="160020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" y="1600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Projection head maps 384 → 128 dimensions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" y="214884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Contrastive loss: pull similar tissue patches together, push dissimilar ones apart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" y="269748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Boundary head detects sharp tissue transitions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2608" y="324612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3246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Spatial consistency: nearby patches → same cluster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" y="379476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37947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Output: 4 tissue pseudo-labels — no annotation needed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658368"/>
            <a:ext cx="429768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658368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6583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STEGO Loss Functions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81728" y="105156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1247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1  Correspondence (Contrastive) Loss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316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L_corr = −Σ k(f_i, f_j) · sim(z_i, z_j)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18288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k = similarity kernel  |  z = projected 128-dim features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228600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3591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2  Total STEGO Loss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26517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L_corr  +  α · L_boundary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73168" y="306324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α balances segmentation quality vs. boundary sharpness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352044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5935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3  Cluster Assignment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3886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argmax  softmax(W · z)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73168" y="4297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W = learned linear probe  |  4 output tissue classes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" y="5029200"/>
            <a:ext cx="8686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</a:rPr>
              <a:t>Training: 20 epochs  |  Loss: 2.45 → 0.012  (99.5% reduction)  |  Output: 4 cluster pseudo-labels per patch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3 — Fine-Tuning with Only 10% Labeled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816352" cy="129844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2816352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Frozen Encoder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DINO + STEGO  (22.5M params locked)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Knowledge preserved from unsupervised 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658368"/>
            <a:ext cx="2816352" cy="129844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658368"/>
            <a:ext cx="2816352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65836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Trainable Decoder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SimpleDecoder: 384→256→128→4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1.1M trainable params only (4.6% of total)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658368"/>
            <a:ext cx="2816352" cy="129844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658368"/>
            <a:ext cx="2816352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65836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 Balancing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005840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Weighted CE loss + oversampling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+ augmentation for 95:5 imbalance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084832"/>
            <a:ext cx="4160520" cy="265176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084832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08483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Loss Functions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5054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Weighted CE: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25054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−Σ  w_c · y_c · log(p_c)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1638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Dice Loss: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638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L_Dice = 1 − 2|A∩B| / (|A|+|B|)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8221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Combined: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8221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λ₁ L_CE + λ₂ L_Dice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0040" y="452628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Class weights address extreme imbalance (BG:Tumor ≈ 95:5)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084832"/>
            <a:ext cx="4297680" cy="265176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084832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08483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Results  (10% Labels)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468880"/>
          <a:ext cx="4206240" cy="197510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Dice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Background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96.8%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96.4%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Necrotic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21.6%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Edema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3.1%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5.2%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2.1%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Enhancing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18.8%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Tumor Mean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14.5%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19.3%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11.5%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4 — Transfer Learning: BraTS → ISLES (Stroke)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160520" cy="31546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2D-Only Approach  (Baseline)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Process each MRI slice independently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No volumetric (depth)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Cannot link lesion across adjacent slices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Lesion Dice: 3.5%  |  Precision: 8.2%  |  Recall: 2.1%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658368"/>
            <a:ext cx="4297680" cy="31546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658368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6583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2D-3D Approach  (Ours)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6592" y="1024128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Frozen DINO: 2D feature extraction per slice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3D convolutions capture volumetric depth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Perceives lesion continuity across adjacent slices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Lesion Dice: 7.9%  |  Precision: 15.3%  |  Recall: 5.8%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3913632"/>
            <a:ext cx="8686800" cy="8046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913632"/>
            <a:ext cx="182880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4087368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 Volume (128×128×16)  →  DINO per-slice (384-dim)  →  3D Conv Decoder (128→64→32→2 classes)  →  Volumetric Mask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43484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Trainable params: 1.5M  |  50 epochs  |  ~6 hrs  |  Modalities: DWI + ADC + FLAIR  |  2.2× better than 2D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Label Efficiency &amp; Cost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658368"/>
          <a:ext cx="5349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658368"/>
            <a:ext cx="3154680" cy="33832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658368"/>
            <a:ext cx="3154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6583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Comparison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024128"/>
          <a:ext cx="3035808" cy="1920240"/>
        </p:xfrm>
        <a:graphic>
          <a:graphicData uri="http://schemas.openxmlformats.org/drawingml/2006/table">
            <a:tbl>
              <a:tblPr/>
              <a:tblGrid>
                <a:gridCol w="101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Savings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100%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$778,200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 50%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$389,100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 25%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$194,550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75%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 10% (ours)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$77,820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  5%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$38,900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95%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806440" y="3090672"/>
            <a:ext cx="3035808" cy="8046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3127248"/>
            <a:ext cx="2852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10% labels is the sweet spot: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Good performance + 90% savings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28600" y="4160520"/>
            <a:ext cx="8686800" cy="6583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4251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</a:rPr>
              <a:t>Annotation Time:  100% = 1,297 hours (54 days)   →   10% = 130 hours (6 days)   |   Savings: 1,167 hours  &amp;  $700,380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Summary — BraTS &amp; ISLES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658368"/>
          <a:ext cx="5166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658368"/>
            <a:ext cx="3337560" cy="324612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658368"/>
            <a:ext cx="333756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6583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ISLES 2022: 2D vs. 3D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024128"/>
          <a:ext cx="3200400" cy="1304544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3D (Ours)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Gain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Lesion Dice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7.9%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2.2×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15.3%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1.9×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5.8%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2.8×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23560" y="2514600"/>
            <a:ext cx="320040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0" y="257860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3D volumetric context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is critical for detecting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tiny stroke lesions!</a:t>
            </a:r>
            <a:endParaRPr lang="en-US" sz="1350" dirty="0"/>
          </a:p>
        </p:txBody>
      </p:sp>
      <p:sp>
        <p:nvSpPr>
          <p:cNvPr id="8" name="Shape 7"/>
          <p:cNvSpPr/>
          <p:nvPr/>
        </p:nvSpPr>
        <p:spPr>
          <a:xfrm>
            <a:off x="228600" y="4041648"/>
            <a:ext cx="8686800" cy="8686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96.8%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86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BG Dice (BraTS)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9748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14.5%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69748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Tumor Dice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4632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7.9%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4632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Lesion Dice (ISLES)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99516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90%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99516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Cost Saved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1168" y="77724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7724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Label Efficiency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" y="121615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10% labels achieves 96.8% background &amp; 14.5% tumor Dice — comparable to 25% supervised baselines.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77724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Freezing Beats Fine-tuning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21615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Frozen DINO+STEGO prevents overfitting with limited labels. +77% tumor Dice vs. full encoder fine-tuning.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24028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24028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331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3D Context Matters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" y="267919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Hybrid 2D-3D architecture achieves 2.2× better lesion detection on stroke data (ISLES 2022).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24028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31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90% Cost Reduction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67919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$700,380 saved · 1,167 hours saved. Reusable pipeline across multiple brain pathologies.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3767328"/>
            <a:ext cx="4279392" cy="118872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8221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AAAA"/>
                </a:solidFill>
              </a:rPr>
              <a:t>Limitations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2608" y="4114800"/>
            <a:ext cx="40965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Tumor Dice (14.5%) below fully supervised (72.5%)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Edema class challenging (3.1% Dice)  |  Not clinically validated yet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767328"/>
            <a:ext cx="4279392" cy="118872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8221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AAAA"/>
                </a:solidFill>
              </a:rPr>
              <a:t>Future Work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4114800"/>
            <a:ext cx="40965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Extend to MS · Alzheimer's · Parkinson's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Few-shot (1–5% labels)  |  Clinical validation  |  Multi-modal fusion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4974336"/>
            <a:ext cx="8778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DINO: Caron et al. ICCV 2021  |  STEGO: Hamilton et al. CVPR 2022  |  BraTS: Menze et al. TMI 2015  |  ISLES 2022: Hernandez Petzsche et 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2226</Words>
  <Application>Microsoft Office PowerPoint</Application>
  <PresentationFormat>On-screen Show (16:9)</PresentationFormat>
  <Paragraphs>336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Segmentation with Self-Supervised Learning</dc:title>
  <dc:subject>PptxGenJS Presentation</dc:subject>
  <dc:creator>PptxGenJS</dc:creator>
  <cp:lastModifiedBy>rokibul islam</cp:lastModifiedBy>
  <cp:revision>3</cp:revision>
  <dcterms:created xsi:type="dcterms:W3CDTF">2026-05-03T05:53:53Z</dcterms:created>
  <dcterms:modified xsi:type="dcterms:W3CDTF">2026-05-04T02:04:50Z</dcterms:modified>
</cp:coreProperties>
</file>