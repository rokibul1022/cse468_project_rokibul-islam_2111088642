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Loss Reduction by Stage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Reduction %</c:v>
                </c:pt>
              </c:strCache>
            </c:strRef>
          </c:tx>
          <c:spPr>
            <a:solidFill>
              <a:srgbClr val="0D7B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93-48C6-8746-EFE8E72FD93A}"/>
              </c:ext>
            </c:extLst>
          </c:dPt>
          <c:dPt>
            <c:idx val="1"/>
            <c:invertIfNegative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93-48C6-8746-EFE8E72FD93A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93-48C6-8746-EFE8E72FD9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DINO
Pretraining</c:v>
                </c:pt>
                <c:pt idx="1">
                  <c:v>STEGO
Clustering</c:v>
                </c:pt>
                <c:pt idx="2">
                  <c:v>Fine-tuning
(Partial)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88.3</c:v>
                </c:pt>
                <c:pt idx="1">
                  <c:v>99.5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93-48C6-8746-EFE8E72FD9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Training Time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B37-436D-9FB1-395BDCC5BA57}"/>
              </c:ext>
            </c:extLst>
          </c:dPt>
          <c:dPt>
            <c:idx val="1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37-436D-9FB1-395BDCC5BA57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37-436D-9FB1-395BDCC5BA5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37-436D-9FB1-395BDCC5BA5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37-436D-9FB1-395BDCC5BA5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B37-436D-9FB1-395BDCC5BA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DINO (6h)</c:v>
                </c:pt>
                <c:pt idx="1">
                  <c:v>STEGO (4h)</c:v>
                </c:pt>
                <c:pt idx="2">
                  <c:v>Fine-tune (4h+)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37-436D-9FB1-395BDCC5B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4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Key Goals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118872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265176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947672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Cost Reduction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25880"/>
            <a:ext cx="265176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947672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 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651760" cy="1188720"/>
          </a:xfrm>
          <a:prstGeom prst="rect">
            <a:avLst/>
          </a:prstGeom>
          <a:solidFill>
            <a:srgbClr val="22A36B"/>
          </a:solidFill>
          <a:ln w="12700">
            <a:solidFill>
              <a:srgbClr val="22A3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25880"/>
            <a:ext cx="265176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47672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Savings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16052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06040"/>
            <a:ext cx="54864" cy="22860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7919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953512"/>
            <a:ext cx="39044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annotation costs by 90%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competitive segmentation performance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10% labeled training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transfer learning to stroke lesions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deployment in low-resource settings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416052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06040"/>
            <a:ext cx="54864" cy="228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67919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2953512"/>
            <a:ext cx="39044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savings: $700,380 (90% reduction)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savings: 1,167 expert hours saved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DINO+STEGO medical application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Cross-disease generalization capability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research contribution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Supervised Learning Falls Short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920240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$50–$100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65376"/>
            <a:ext cx="192024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MRI scan annotation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202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2588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865376"/>
            <a:ext cx="192024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radiologist time/scan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2024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$778,200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865376"/>
            <a:ext cx="192024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BraTS dataset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234440"/>
            <a:ext cx="192024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32588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15,564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865376"/>
            <a:ext cx="192024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to annotate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" y="2542032"/>
            <a:ext cx="8595360" cy="36576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Our 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27432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06040"/>
            <a:ext cx="54864" cy="22860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6791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Pretraining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2953512"/>
            <a:ext cx="24871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unlabeled MRI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backbone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parameter feature extractor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annotations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606040"/>
            <a:ext cx="27432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606040"/>
            <a:ext cx="54864" cy="228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6791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 Clustering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2953512"/>
            <a:ext cx="24871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tissue patterns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semantic clusters found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approach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Boundary-aware segmentation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606040"/>
            <a:ext cx="265176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606040"/>
            <a:ext cx="54864" cy="2286000"/>
          </a:xfrm>
          <a:prstGeom prst="rect">
            <a:avLst/>
          </a:prstGeom>
          <a:solidFill>
            <a:srgbClr val="22A36B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26791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82512" y="2953512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labeled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1,556 annotated images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Label-efficient training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Cross-disease transfer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&amp; Research Foundations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5943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Caron et al., 2021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self-supervised learning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 w/ EMA updates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ImageNet w/o labels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Temperature-based knowledge distillation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234440"/>
            <a:ext cx="27432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234440"/>
            <a:ext cx="27432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9272" y="1581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et al., 2022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19202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semantic segmentation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+ boundary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COCO-Stuff &amp; Cityscapes SOTA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consistency regularization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234440"/>
            <a:ext cx="27432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234440"/>
            <a:ext cx="27432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SSL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1581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&amp; Variants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8504" y="19202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standard medical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nnU-Net: auto-configured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transformer adaptations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 techniques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Research Gap: No prior work has applied DINO+STEGO to medical imaging — this project is the first.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Self-Supervised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9659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188720"/>
            <a:ext cx="640080" cy="640080"/>
          </a:xfrm>
          <a:prstGeom prst="ellipse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Pretraining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1691640" cy="237744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95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ViT-Small/8 backbone (22M params)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15,564 unlabeled MRI images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feature extraction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 loss reduction achieved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B8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1234440"/>
            <a:ext cx="19659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1188720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42032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 Clustering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2286000"/>
            <a:ext cx="169164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295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6060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on DINO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detection branch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tissue type clusters found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loss reduction achieved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B8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19659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21808" y="11887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36592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286000"/>
            <a:ext cx="16916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95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6060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SimpleDecoder architecture (1.1M params)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 for imbalance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labeled data (1,556 images)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60% through training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B8A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0" y="1234440"/>
            <a:ext cx="19659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16368" y="1188720"/>
            <a:ext cx="640080" cy="6400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31152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95160" y="2286000"/>
            <a:ext cx="169164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295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⏳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260604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ISLES stroke lesion dataset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decoder for volumetric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Cross-disease generalization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fallback approach ready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Components &amp; Parameter Counts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62179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73152" cy="100584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53312"/>
            <a:ext cx="1097280" cy="27432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62456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344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Backbone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44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params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1719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ViT-Small/8  •  224×224×3 input  •  196×384 output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2860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B8A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62179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731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42032"/>
            <a:ext cx="109728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51176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 Head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5328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0.5M params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29077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MLP projection  •  384→128 dim  •  Boundary detection branch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4747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B8A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62179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5760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30752"/>
            <a:ext cx="10972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39896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SimpleDecoder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721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params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91640" y="40965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ConvTranspose2d blocks  •  128→4 classes  •  Gradual upsampling 14→224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1280160"/>
            <a:ext cx="219456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(4.8%)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2834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3337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Performance Across All Completed Stages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274320" y="12344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572000" y="1234440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977640"/>
            <a:ext cx="20116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4005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74320" y="4407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Dice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74320" y="4645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96%+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496312" y="3977640"/>
            <a:ext cx="20116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96312" y="4005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496312" y="4407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Mean Dice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496312" y="4645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15%+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18304" y="3977640"/>
            <a:ext cx="20116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18304" y="4005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18304" y="4407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Loss ↓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718304" y="4645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&lt;1.0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940296" y="3977640"/>
            <a:ext cx="20116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0296" y="4005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940296" y="4407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 Loss ↓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940296" y="4645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&lt;0.05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Data Obstacles Encountered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Extreme Class Imbalance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Tumor pixels &lt; 2% of total image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cross-entropy: w=[1.0, 50, 15, 30]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oversampling of tumor images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MRI-specific data augmentation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post-processing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7432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12344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2618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Limited GPU Memory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3D volumes require 12GB+ VRAM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251460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 enabled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batch sizes (16→8)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patch processing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training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1344" y="1234440"/>
            <a:ext cx="27432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234440"/>
            <a:ext cx="27432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618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Feature Alignment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DINO features not medical-optimized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72784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8504" y="251460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fine-tuning strategy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approach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augmentation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unfreezing planned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Completion: 70% — Ahead of Schedule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6016752" cy="384048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6016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Complete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91072" y="123444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Remaining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274320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55648"/>
            <a:ext cx="2743200" cy="365760"/>
          </a:xfrm>
          <a:prstGeom prst="rect">
            <a:avLst/>
          </a:prstGeom>
          <a:solidFill>
            <a:srgbClr val="22A36B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7393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 (6 tasks)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2542032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method selection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 &amp; preprocessing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pretraining implementation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 clustering implementation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architecture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solution development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755648"/>
            <a:ext cx="2743200" cy="3108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1755648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177393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 Progress (3 tasks)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542032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optimization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1344" y="1755648"/>
            <a:ext cx="274320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755648"/>
            <a:ext cx="27432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77393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Remaining (4 tasks)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2194560"/>
            <a:ext cx="2542032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(ISLES)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decoder implementation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&amp; comparison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application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Current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6217920" cy="2651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Dice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 Close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Mean Dice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 Improving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1234440"/>
            <a:ext cx="21945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75120" y="1234440"/>
            <a:ext cx="54864" cy="118872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3075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 #1</a:t>
            </a:r>
            <a:endParaRPr lang="en-US" sz="1200" dirty="0"/>
          </a:p>
        </p:txBody>
      </p:sp>
      <p:sp>
        <p:nvSpPr>
          <p:cNvPr id="6" name="Text 7"/>
          <p:cNvSpPr/>
          <p:nvPr/>
        </p:nvSpPr>
        <p:spPr>
          <a:xfrm>
            <a:off x="6839712" y="1581912"/>
            <a:ext cx="1938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segmentation performing well — close to target with more epochs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75120" y="2514600"/>
            <a:ext cx="21945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51460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5877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 #2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39712" y="2862072"/>
            <a:ext cx="1938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detection improving rapidly with class balancing strategies applied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75120" y="3794760"/>
            <a:ext cx="21945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75120" y="3794760"/>
            <a:ext cx="54864" cy="1188720"/>
          </a:xfrm>
          <a:prstGeom prst="rect">
            <a:avLst/>
          </a:prstGeom>
          <a:solidFill>
            <a:srgbClr val="22A36B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84848" y="38679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 #3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39712" y="4142232"/>
            <a:ext cx="1938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efficiency exceeds expectations — 40% faster than budgeted time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4023360"/>
            <a:ext cx="62179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096512"/>
            <a:ext cx="5852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Tumor Dice improved by 1,712% after implementing weighted loss — from 0.47% to 8.5% mean Dice score.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Project Completion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8595360" cy="7315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280160"/>
            <a:ext cx="256032" cy="256032"/>
          </a:xfrm>
          <a:prstGeom prst="ellipse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27432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01952"/>
            <a:ext cx="2743200" cy="438912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2024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Completion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fine-tuning optimization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temperature scaling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target performance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transfer learning setup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280160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572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1901952"/>
            <a:ext cx="27432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901952"/>
            <a:ext cx="274320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192024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64992" y="2423160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3D decoder for ISLES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transfer learning evaluation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Streamlit demo application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ablation studies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78624" y="12801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572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1901952"/>
            <a:ext cx="27432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901952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92024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Phase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2423160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performance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state-of-the-art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report writing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preparation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Innovations &amp; Practical Impact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41605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54480"/>
            <a:ext cx="822960" cy="822960"/>
          </a:xfrm>
          <a:prstGeom prst="ellipse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 of DINO+STEGO combination in medical imaging domain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605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554480"/>
            <a:ext cx="822960" cy="822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6072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1783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2D-3D transfer learning for volumetric medical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4612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108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multi-strategy solution for extreme pixel imbalance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1605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24612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760720" y="3108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Efficiency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across 1%–100% label fractions for medical segmentation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360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Practical Impact: $700K cost savings  •  1,167 expert hours saved  •  Open-source release  •  Cross-disease transfer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Mitigation Strategies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286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61872"/>
            <a:ext cx="8595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61872"/>
            <a:ext cx="1005840" cy="621792"/>
          </a:xfrm>
          <a:prstGeom prst="rect">
            <a:avLst/>
          </a:prstGeom>
          <a:solidFill>
            <a:srgbClr val="22A36B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61872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DINO/STEGO done 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137160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Already completed and validated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859536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75104"/>
            <a:ext cx="10058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7510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Performance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 in progress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08483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Weighted loss + oversampling applied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88336"/>
            <a:ext cx="859536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88336"/>
            <a:ext cx="10058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8833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2752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Transfer Learning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026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79806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2D fallback approach 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01568"/>
            <a:ext cx="8595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01568"/>
            <a:ext cx="1005840" cy="621792"/>
          </a:xfrm>
          <a:prstGeom prst="rect">
            <a:avLst/>
          </a:prstGeom>
          <a:solidFill>
            <a:srgbClr val="22A36B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0156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/ Schedule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739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schedule (+2 wks)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351129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Efficient implementation approach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14800"/>
            <a:ext cx="1005840" cy="621792"/>
          </a:xfrm>
          <a:prstGeom prst="rect">
            <a:avLst/>
          </a:prstGeom>
          <a:solidFill>
            <a:srgbClr val="22A36B"/>
          </a:solidFill>
          <a:ln w="12700">
            <a:solidFill>
              <a:srgbClr val="22A3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1480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1732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17320" y="4453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progress maintained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0" y="422452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Parallel development strategy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1002</Words>
  <Application>Microsoft Office PowerPoint</Application>
  <PresentationFormat>On-screen Show (16:9)</PresentationFormat>
  <Paragraphs>284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Segmentation with Self-Supervised Learning</dc:title>
  <dc:subject>PptxGenJS Presentation</dc:subject>
  <dc:creator>PptxGenJS</dc:creator>
  <cp:lastModifiedBy>rokibul islam</cp:lastModifiedBy>
  <cp:revision>2</cp:revision>
  <dcterms:created xsi:type="dcterms:W3CDTF">2026-05-03T10:58:00Z</dcterms:created>
  <dcterms:modified xsi:type="dcterms:W3CDTF">2026-05-03T11:20:38Z</dcterms:modified>
</cp:coreProperties>
</file>